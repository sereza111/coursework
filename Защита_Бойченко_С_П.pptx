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ОБПОУ «Колледж информационных технологий»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ПРОЕКТИРОВАНИЕ И РАЗРАБОТКА</a:t>
            </a:r>
            <a:endParaRPr lang="en-US" sz="3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БАЗЫ ДАННЫХ НАЧИСЛЕНИЯ</a:t>
            </a:r>
            <a:endParaRPr lang="en-US" sz="3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 ВЫПЛАТЫ ЗАРАБОТНОЙ ПЛАТЫ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3200400"/>
            <a:ext cx="4572000" cy="36576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C4D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Выполнил: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Бойченко Сергей Петрович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Группа ИСП-4К   |   Специальность 09.02.07   |   МДК 11.01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Руководитель: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Леленёв Ю.М.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Курск,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Актуальность и цель работы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023360" cy="3931920"/>
          </a:xfrm>
          <a:prstGeom prst="rect">
            <a:avLst/>
          </a:prstGeom>
          <a:solidFill>
            <a:srgbClr val="E8F0FC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расчёт зарплаты — источник ошибок и задержек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единого хранилища начислений и удержаний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нарушения НК РФ и трудового законодательства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утечки персональных данных сотрудников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297680" cy="39319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4173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Спроектировать и реализовать реляционную базу данных начисления и выплаты зарплаты на СУБД MySQL, а также разработать прототип клиентского WinForms-приложения.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977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WinForms (.NET 8)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Поставленные задачи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57200" cy="43891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932688"/>
            <a:ext cx="8138160" cy="402336"/>
          </a:xfrm>
          <a:prstGeom prst="rect">
            <a:avLst/>
          </a:prstGeom>
          <a:solidFill>
            <a:srgbClr val="E8F0FC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3268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предметной области и бизнес-процессов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1490472"/>
            <a:ext cx="457200" cy="43891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49047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1508760"/>
            <a:ext cx="8138160" cy="402336"/>
          </a:xfrm>
          <a:prstGeom prst="rect">
            <a:avLst/>
          </a:prstGeom>
          <a:solidFill>
            <a:srgbClr val="F0F4FB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50876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ролей пользователей и требований к БД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" y="2066544"/>
            <a:ext cx="457200" cy="43891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06654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2084832"/>
            <a:ext cx="8138160" cy="402336"/>
          </a:xfrm>
          <a:prstGeom prst="rect">
            <a:avLst/>
          </a:prstGeom>
          <a:solidFill>
            <a:srgbClr val="E8F0FC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08483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анализ существующих систем и СУБД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" y="2642616"/>
            <a:ext cx="457200" cy="43891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64261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2660904"/>
            <a:ext cx="8138160" cy="402336"/>
          </a:xfrm>
          <a:prstGeom prst="rect">
            <a:avLst/>
          </a:prstGeom>
          <a:solidFill>
            <a:srgbClr val="F0F4FB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266090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концептуальной (ER) и логической моделей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8600" y="3218688"/>
            <a:ext cx="457200" cy="43891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218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1520" y="3236976"/>
            <a:ext cx="8138160" cy="402336"/>
          </a:xfrm>
          <a:prstGeom prst="rect">
            <a:avLst/>
          </a:prstGeom>
          <a:solidFill>
            <a:srgbClr val="E8F0FC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23697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DDL-скриптов, тестовых данных и запросов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28600" y="3794760"/>
            <a:ext cx="457200" cy="43891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79476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1520" y="3813048"/>
            <a:ext cx="8138160" cy="402336"/>
          </a:xfrm>
          <a:prstGeom prst="rect">
            <a:avLst/>
          </a:prstGeom>
          <a:solidFill>
            <a:srgbClr val="F0F4FB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81304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отчётов: VIEW и хранимая процедура sp_calculate_ndfl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28600" y="4370832"/>
            <a:ext cx="457200" cy="43891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437083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1520" y="4389120"/>
            <a:ext cx="8138160" cy="402336"/>
          </a:xfrm>
          <a:prstGeom prst="rect">
            <a:avLst/>
          </a:prstGeom>
          <a:solidFill>
            <a:srgbClr val="E8F0FC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38912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Меры защиты данных, разграничение доступа, резервное копирование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Предметная область и роли пользователей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73152" cy="109728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33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Организационная структура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371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Отделы, должности, базовые оклады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73152" cy="109728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033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8032" y="1371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ФИО, ставка, статус, история приёма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22199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221992"/>
            <a:ext cx="73152" cy="109728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2951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Расчётные периоды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" y="26334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Месяц/год, статус закрытия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22199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221992"/>
            <a:ext cx="73152" cy="109728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2951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Начисления / Удержания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26334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Премии, штрафы, исполнительные листы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3483864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483864"/>
            <a:ext cx="73152" cy="109728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35570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НДФЛ 13%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" y="38953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Хранимая процедура sp_calculate_ndfl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483864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483864"/>
            <a:ext cx="73152" cy="109728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35570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Выплаты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28032" y="38953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Дата, сумма, метод (карта/перевод)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Концептуальная модель (ER-диаграмма)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2743200" cy="365760"/>
          </a:xfrm>
          <a:prstGeom prst="rect">
            <a:avLst/>
          </a:prstGeom>
          <a:solidFill>
            <a:srgbClr val="1A2F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Сущность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914400"/>
            <a:ext cx="5852160" cy="365760"/>
          </a:xfrm>
          <a:prstGeom prst="rect">
            <a:avLst/>
          </a:prstGeom>
          <a:solidFill>
            <a:srgbClr val="1A2F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325880"/>
            <a:ext cx="5852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624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13624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Подразделения организации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801368"/>
            <a:ext cx="2743200" cy="438912"/>
          </a:xfrm>
          <a:prstGeom prst="rect">
            <a:avLst/>
          </a:prstGeom>
          <a:solidFill>
            <a:srgbClr val="E8F0FC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1801368"/>
            <a:ext cx="5852160" cy="438912"/>
          </a:xfrm>
          <a:prstGeom prst="rect">
            <a:avLst/>
          </a:prstGeom>
          <a:solidFill>
            <a:srgbClr val="E8F0FC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379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18379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Должности и базовые оклады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2276856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2276856"/>
            <a:ext cx="5852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3134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23134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 (центральная сущность)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2752344"/>
            <a:ext cx="2743200" cy="438912"/>
          </a:xfrm>
          <a:prstGeom prst="rect">
            <a:avLst/>
          </a:prstGeom>
          <a:solidFill>
            <a:srgbClr val="E8F0FC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2752344"/>
            <a:ext cx="5852160" cy="438912"/>
          </a:xfrm>
          <a:prstGeom prst="rect">
            <a:avLst/>
          </a:prstGeom>
          <a:solidFill>
            <a:srgbClr val="E8F0FC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payroll_periods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2788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Расчётные периоды (месяц, год)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3227832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3227832"/>
            <a:ext cx="5852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2644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accruals / deductions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32644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Начисления и удержания за период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3703320"/>
            <a:ext cx="2743200" cy="438912"/>
          </a:xfrm>
          <a:prstGeom prst="rect">
            <a:avLst/>
          </a:prstGeom>
          <a:solidFill>
            <a:srgbClr val="E8F0FC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17520" y="3703320"/>
            <a:ext cx="5852160" cy="438912"/>
          </a:xfrm>
          <a:prstGeom prst="rect">
            <a:avLst/>
          </a:prstGeom>
          <a:solidFill>
            <a:srgbClr val="E8F0FC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7398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payroll_calculations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08960" y="37398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расчёта: gross, НДФЛ, net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8600" y="4178808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4178808"/>
            <a:ext cx="5852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2153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108960" y="421538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 выплаты сотруднику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4654296"/>
            <a:ext cx="2743200" cy="438912"/>
          </a:xfrm>
          <a:prstGeom prst="rect">
            <a:avLst/>
          </a:prstGeom>
          <a:solidFill>
            <a:srgbClr val="E8F0FC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17520" y="4654296"/>
            <a:ext cx="5852160" cy="438912"/>
          </a:xfrm>
          <a:prstGeom prst="rect">
            <a:avLst/>
          </a:prstGeom>
          <a:solidFill>
            <a:srgbClr val="E8F0FC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6908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bonus_types / penalties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108960" y="46908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Справочники видов начислений и штрафов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Логическая модель и нормализация до 3НФ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023360" cy="3931920"/>
          </a:xfrm>
          <a:prstGeom prst="rect">
            <a:avLst/>
          </a:prstGeom>
          <a:solidFill>
            <a:srgbClr val="E8F0FC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640080" cy="5029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08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1НФ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508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Атомарность атрибутов, нет повторяющихся групп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640080" cy="5029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06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2НФ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частичных зависимостей от составного ключа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640080" cy="50292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03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3НФ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703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транзитивных зависимостей между неключевыми атрибутами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960120"/>
            <a:ext cx="4297680" cy="39319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КЛЮЧИ И ОГРАНИЧЕНИЯ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PK: AUTO_INCREMENT для всех таблиц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FK: каскадные ссылки на departments, positions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CHECK: base_salary ≥ 0, salary_rate &gt; 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3154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UNIQUE: (employee_id, period_id) в payroll_calculations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3703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INDEX: department_id, (employee_id, period_id), payment_date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4251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ENUM: payment_method — card / cash / transfer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Реализация SQL-скриптов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160520" cy="41148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01_schema.sql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TABLE (10 таблиц)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CHECK, UNIQUE, FOREIGN KEY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Индексы на ключевые поля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02_seed.sql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463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отдела, 4 должности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сотрудника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Начисления, удержания, расчёт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8600" y="3063240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063240"/>
            <a:ext cx="4160520" cy="4114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3090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03_queries.sql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566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 SELECT-запросов (простые+JOIN)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023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vw_payment_sheet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480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Процедура sp_calculate_ndfl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3063240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063240"/>
            <a:ext cx="4160520" cy="4114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090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04_security.sql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3566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пользователя MySQL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4023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GRANT по ролям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4480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Команды mysqldump/restore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SQL-запросы: от простых к сложным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 запросы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280160"/>
            <a:ext cx="4114800" cy="420624"/>
          </a:xfrm>
          <a:prstGeom prst="rect">
            <a:avLst/>
          </a:prstGeom>
          <a:solidFill>
            <a:srgbClr val="E8F0FC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SELECT с фильтром по периоду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755648"/>
            <a:ext cx="4114800" cy="420624"/>
          </a:xfrm>
          <a:prstGeom prst="rect">
            <a:avLst/>
          </a:prstGeom>
          <a:solidFill>
            <a:srgbClr val="E8F0FC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5564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JOIN двух и более таблиц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231136"/>
            <a:ext cx="4114800" cy="420624"/>
          </a:xfrm>
          <a:prstGeom prst="rect">
            <a:avLst/>
          </a:prstGeom>
          <a:solidFill>
            <a:srgbClr val="E8F0FC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3113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ORDER BY, GROUP BY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2706624"/>
            <a:ext cx="4114800" cy="420624"/>
          </a:xfrm>
          <a:prstGeom prst="rect">
            <a:avLst/>
          </a:prstGeom>
          <a:solidFill>
            <a:srgbClr val="E8F0FC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0662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Агрегирующие функции SUM, COUNT, ROUND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Сложные запросы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1005840" cy="36576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280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Подзапрос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06440" y="1280160"/>
            <a:ext cx="3063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 с зарплатой выше средней по периоду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682496"/>
            <a:ext cx="4114800" cy="365760"/>
          </a:xfrm>
          <a:prstGeom prst="rect">
            <a:avLst/>
          </a:prstGeom>
          <a:solidFill>
            <a:srgbClr val="F8FAFE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103120"/>
            <a:ext cx="1005840" cy="36576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103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06440" y="2103120"/>
            <a:ext cx="3063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vw_payment_sheet — сводная ведомость выплат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505456"/>
            <a:ext cx="4114800" cy="365760"/>
          </a:xfrm>
          <a:prstGeom prst="rect">
            <a:avLst/>
          </a:prstGeom>
          <a:solidFill>
            <a:srgbClr val="F8FAFE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926080"/>
            <a:ext cx="1005840" cy="36576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926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2926080"/>
            <a:ext cx="3063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sp_calculate_ndfl — расчёт НДФЛ (13%)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328416"/>
            <a:ext cx="4114800" cy="365760"/>
          </a:xfrm>
          <a:prstGeom prst="rect">
            <a:avLst/>
          </a:prstGeom>
          <a:solidFill>
            <a:srgbClr val="F8FAFE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749040"/>
            <a:ext cx="1005840" cy="36576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749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по ФОТ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06440" y="3749040"/>
            <a:ext cx="3063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3749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Суммы gross/net по отделам с GROUP BY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Клиентское WinForms-приложение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64008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743200" cy="64008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MySql.Data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12984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9.2.0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743200" cy="64008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12984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 + implicitUsings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1828800"/>
            <a:ext cx="4114800" cy="3017520"/>
          </a:xfrm>
          <a:prstGeom prst="rect">
            <a:avLst/>
          </a:prstGeom>
          <a:solidFill>
            <a:srgbClr val="E8F0FC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2286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Database.cs — статический класс подключения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2697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MainForm.cs — главная форма (1000×650 px)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108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Кнопка «Сотрудники» → SELECT с JOIN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520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Кнопка «Ведомость выплат» → payroll_calculations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3931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DataGridView с автоподбором ширины столбцов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343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Строка статуса — счётчик загруженных строк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1828800"/>
            <a:ext cx="4297680" cy="30175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ПОДКЛЮЧЕНИЯ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22860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Server=localhost;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Port=3306;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Database=salary_payroll_db;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Uid=payroll_admin;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Pwd=Admin#2026;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0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SslMode=None;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4206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payroll_admin имеет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полные права на salary_payroll_db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Мероприятия по защите базы данных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283464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875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безопасности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54864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НСД — несанкционированный доступ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54864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677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SQL-инъекции через клиентское ПО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072384"/>
            <a:ext cx="54864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723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Утечки персональных данных (ФЗ-152)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877056"/>
            <a:ext cx="54864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770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CVE-уязвимости MySQL 8.x (ФСТЭК)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960120"/>
            <a:ext cx="2834640" cy="41148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9875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защиты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1463040"/>
            <a:ext cx="54864" cy="4572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1463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Ролевая модель: admin / accountant / reader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2267712"/>
            <a:ext cx="54864" cy="4572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22677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GRANT: минимально необходимые привилегии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3072384"/>
            <a:ext cx="54864" cy="4572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0723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SslMode и шифрование трафика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3877056"/>
            <a:ext cx="54864" cy="4572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8770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Параметризованные запросы (не конкатенация)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960120"/>
            <a:ext cx="2834640" cy="4114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9875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Резервное копирование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3640" y="1463040"/>
            <a:ext cx="54864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463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mysqldump -u payroll_admin -p salary_payroll_db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2267712"/>
            <a:ext cx="54864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22677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Восстановление: mysql &lt; backup.sql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3072384"/>
            <a:ext cx="54864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0723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Рекомендуется: ежедневный cron-скрипт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63640" y="3877056"/>
            <a:ext cx="54864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8770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резервных копий вне сервера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77240"/>
          </a:xfrm>
          <a:prstGeom prst="rect">
            <a:avLst/>
          </a:prstGeom>
          <a:solidFill>
            <a:srgbClr val="E8F0FC"/>
          </a:solidFill>
          <a:ln w="12700">
            <a:solidFill>
              <a:srgbClr val="E8F0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F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Результаты работы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914400" cy="54864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960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0332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MySQL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таблиц, нормализация 3НФ, индексы, 4 тестовых сотрудника с расчётами за март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60120"/>
            <a:ext cx="914400" cy="54864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960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10332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SQL-скрипты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(01), seed-данные (02), 7 запросов + VIEW + хранимая процедура (03), безопасность (04)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108960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108960"/>
            <a:ext cx="914400" cy="54864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1821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WinForms-приложение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" y="374904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.NET 8, отображение справочника сотрудников и зарплатной ведомости в DataGridView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108960"/>
            <a:ext cx="914400" cy="54864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0" y="31821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данных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374904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роли (admin / accountant / reader), GRANT, анализ угроз, процедура резервного копирования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Спасибо за внимание!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286000" y="1554480"/>
            <a:ext cx="4572000" cy="36576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Курсовая работа по МДК 11.01 «Технология разработки и защиты баз данных»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566928"/>
          </a:xfrm>
          <a:prstGeom prst="rect">
            <a:avLst/>
          </a:prstGeom>
          <a:solidFill>
            <a:srgbClr val="1E3A6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860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Спроектирована реляционная БД из 10 таблиц (3НФ) на СУБД MySQL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44368"/>
            <a:ext cx="8229600" cy="566928"/>
          </a:xfrm>
          <a:prstGeom prst="rect">
            <a:avLst/>
          </a:prstGeom>
          <a:solidFill>
            <a:srgbClr val="1E3A6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9443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Разработаны SQL-скрипты: DDL, тестовые данные, 7 запросов, VIEW, процедура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02736"/>
            <a:ext cx="8229600" cy="566928"/>
          </a:xfrm>
          <a:prstGeom prst="rect">
            <a:avLst/>
          </a:prstGeom>
          <a:solidFill>
            <a:srgbClr val="1E3A6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60273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Реализован прототип клиентского приложения на C# WinForms (.NET 8)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61104"/>
            <a:ext cx="8229600" cy="566928"/>
          </a:xfrm>
          <a:prstGeom prst="rect">
            <a:avLst/>
          </a:prstGeom>
          <a:solidFill>
            <a:srgbClr val="1E3A6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261104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Описаны угрозы безопасности, реализованы роли и резервное копирование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Бойченко Сергей Петрович  •  Группа ИСП-4К  •  Курск,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Защита курсовой работы — Бойченко С.П.</dc:title>
  <dc:subject>PptxGenJS Presentation</dc:subject>
  <dc:creator>PptxGenJS</dc:creator>
  <cp:lastModifiedBy>PptxGenJS</cp:lastModifiedBy>
  <cp:revision>1</cp:revision>
  <dcterms:created xsi:type="dcterms:W3CDTF">2026-04-24T20:50:35Z</dcterms:created>
  <dcterms:modified xsi:type="dcterms:W3CDTF">2026-04-24T20:50:35Z</dcterms:modified>
</cp:coreProperties>
</file>